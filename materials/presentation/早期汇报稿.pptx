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  <a:spcBef>
                <a:spcPct val="300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Verdana" panose="020B0804030504040204"/>
              <a:ea typeface="Verdana" panose="020B0804030504040204"/>
              <a:cs typeface="Verdana" panose="020B0804030504040204"/>
              <a:sym typeface="Verdana" panose="020B080403050404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200152" y="1557338"/>
            <a:ext cx="10166349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3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3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单击此处编辑母版标题样式</a:t>
            </a:r>
            <a:endParaRPr lang="en-US" sz="23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1871133" y="3933825"/>
            <a:ext cx="87376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单击此处编辑母版副标题样式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" hasCustomPrompt="1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Date</a:t>
            </a:r>
            <a:endParaRPr lang="en-US" sz="1200" b="0" i="0" u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" hasCustomPrompt="1"/>
          </p:nvPr>
        </p:nvSpPr>
        <p:spPr>
          <a:xfrm>
            <a:off x="4165600" y="6243638"/>
            <a:ext cx="38608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Footer</a:t>
            </a:r>
            <a:endParaRPr lang="en-US" sz="1200" b="0" i="0" u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" hasCustomPrompt="1"/>
          </p:nvPr>
        </p:nvSpPr>
        <p:spPr>
          <a:xfrm>
            <a:off x="8737600" y="6243638"/>
            <a:ext cx="28448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b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  <a:endParaRPr lang="en-US" sz="1200" b="0" i="0" u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" hasCustomPrompt="1"/>
          </p:nvPr>
        </p:nvSpPr>
        <p:spPr>
          <a:xfrm>
            <a:off x="624417" y="260357"/>
            <a:ext cx="10972800" cy="5762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"/>
          </p:nvPr>
        </p:nvSpPr>
        <p:spPr>
          <a:xfrm>
            <a:off x="624417" y="1196975"/>
            <a:ext cx="10972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19555" lvl="4" indent="-177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483850" y="6071235"/>
            <a:ext cx="30988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963084" y="4406907"/>
            <a:ext cx="103632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1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1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" hasCustomPrompt="1"/>
          </p:nvPr>
        </p:nvSpPr>
        <p:spPr>
          <a:xfrm>
            <a:off x="624417" y="260357"/>
            <a:ext cx="10972800" cy="5762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3"/>
          </p:nvPr>
        </p:nvSpPr>
        <p:spPr>
          <a:xfrm>
            <a:off x="624417" y="1196975"/>
            <a:ext cx="5384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648970" lvl="1" indent="-304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925195" lvl="2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5222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70355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4"/>
          </p:nvPr>
        </p:nvSpPr>
        <p:spPr>
          <a:xfrm>
            <a:off x="6212417" y="1196975"/>
            <a:ext cx="5384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648970" lvl="1" indent="-304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925195" lvl="2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5222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70355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44955" lvl="4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/>
          </p:nvPr>
        </p:nvSpPr>
        <p:spPr>
          <a:xfrm>
            <a:off x="6193372" y="1535113"/>
            <a:ext cx="5389033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9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44955" lvl="4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0" hasCustomPrompt="1"/>
          </p:nvPr>
        </p:nvSpPr>
        <p:spPr>
          <a:xfrm>
            <a:off x="624417" y="260357"/>
            <a:ext cx="10972800" cy="5762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2000" b="1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4766733" y="273057"/>
            <a:ext cx="6815667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406400" indent="-406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3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699770" lvl="1" indent="-355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975995" lvl="2" indent="-304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77620" lvl="3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95755" lvl="4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4" hasCustomPrompt="1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2000" b="1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25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4417" y="260357"/>
            <a:ext cx="10972800" cy="5762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/>
          </p:nvPr>
        </p:nvSpPr>
        <p:spPr>
          <a:xfrm>
            <a:off x="624417" y="1196975"/>
            <a:ext cx="10972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19555" lvl="4" indent="-177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" hasCustomPrompt="1"/>
          </p:nvPr>
        </p:nvSpPr>
        <p:spPr>
          <a:xfrm>
            <a:off x="8854017" y="260350"/>
            <a:ext cx="2743200" cy="5976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0"/>
          </p:nvPr>
        </p:nvSpPr>
        <p:spPr>
          <a:xfrm>
            <a:off x="624417" y="260350"/>
            <a:ext cx="8026400" cy="5976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19555" lvl="4" indent="-177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1" hasCustomPrompt="1"/>
          </p:nvPr>
        </p:nvSpPr>
        <p:spPr>
          <a:xfrm>
            <a:off x="624417" y="260357"/>
            <a:ext cx="10972800" cy="5762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title style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2"/>
          </p:nvPr>
        </p:nvSpPr>
        <p:spPr>
          <a:xfrm>
            <a:off x="624417" y="1196975"/>
            <a:ext cx="5384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19555" lvl="4" indent="-177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3"/>
          </p:nvPr>
        </p:nvSpPr>
        <p:spPr>
          <a:xfrm>
            <a:off x="6212417" y="1196975"/>
            <a:ext cx="5384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Click to edit Master text styles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19555" lvl="4" indent="-177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Fifth level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4" hasCustomPrompt="1"/>
          </p:nvPr>
        </p:nvSpPr>
        <p:spPr>
          <a:xfrm>
            <a:off x="624417" y="260357"/>
            <a:ext cx="10972800" cy="5762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4000" b="0" i="0" u="none" strike="noStrike" spc="0">
                <a:solidFill>
                  <a:srgbClr val="368CFF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0" i="0" u="none" strike="noStrike">
                <a:solidFill>
                  <a:srgbClr val="368CFF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单击此处编辑母版标题样式</a:t>
            </a:r>
            <a:endParaRPr lang="en-US" sz="4000" b="0" i="0" u="none" strike="noStrike">
              <a:solidFill>
                <a:srgbClr val="368CFF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5"/>
          </p:nvPr>
        </p:nvSpPr>
        <p:spPr>
          <a:xfrm>
            <a:off x="624417" y="1196975"/>
            <a:ext cx="10972800" cy="504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2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单击此处编辑母版文本样式</a:t>
            </a:r>
            <a:endParaRPr lang="en-US" sz="22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598170" lvl="1" indent="-2540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o"/>
            </a:pPr>
            <a:r>
              <a:rPr lang="en-US" sz="20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二级</a:t>
            </a:r>
            <a:endParaRPr lang="en-US" sz="20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899795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18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三级</a:t>
            </a:r>
            <a:endParaRPr lang="en-US" sz="18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226820" lvl="3" indent="-2032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四级</a:t>
            </a:r>
            <a:endParaRPr lang="en-US" sz="16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  <a:p>
            <a:pPr marL="1519555" lvl="4" indent="-1778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n"/>
            </a:pPr>
            <a:r>
              <a:rPr lang="en-US" sz="1400" b="0" i="0" u="none" strike="noStrike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五级</a:t>
            </a:r>
            <a:endParaRPr lang="en-US" sz="1400" b="0" i="0" u="none" strike="noStrike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6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2026/5/10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7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8" hasCustomPrompt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‹#›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1"/>
          <p:cNvCxnSpPr/>
          <p:nvPr/>
        </p:nvCxnSpPr>
        <p:spPr>
          <a:xfrm>
            <a:off x="624422" y="981075"/>
            <a:ext cx="10943167" cy="0"/>
          </a:xfrm>
          <a:prstGeom prst="line">
            <a:avLst/>
          </a:prstGeom>
          <a:noFill/>
          <a:ln w="76200">
            <a:gradFill rotWithShape="0">
              <a:gsLst>
                <a:gs pos="0">
                  <a:srgbClr val="57D3DB">
                    <a:alpha val="100000"/>
                  </a:srgbClr>
                </a:gs>
                <a:gs pos="70999">
                  <a:srgbClr val="74B5D6">
                    <a:alpha val="100000"/>
                  </a:srgbClr>
                </a:gs>
                <a:gs pos="100000">
                  <a:srgbClr val="0080FF">
                    <a:alpha val="100000"/>
                  </a:srgbClr>
                </a:gs>
              </a:gsLst>
              <a:lin ang="5400000"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AutoShape 2"/>
          <p:cNvSpPr/>
          <p:nvPr/>
        </p:nvSpPr>
        <p:spPr>
          <a:xfrm>
            <a:off x="2832100" y="6308732"/>
            <a:ext cx="4512733" cy="3667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4"/>
          <a:srcRect t="31653" r="5916" b="31675"/>
          <a:stretch>
            <a:fillRect/>
          </a:stretch>
        </p:blipFill>
        <p:spPr>
          <a:xfrm>
            <a:off x="8976320" y="153859"/>
            <a:ext cx="2592288" cy="73053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476733" y="3213472"/>
            <a:ext cx="11233248" cy="86360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zh-CN" altLang="en-US" sz="4400" b="1" i="0" u="none" strike="noStrike" dirty="0">
                <a:solidFill>
                  <a:srgbClr val="000000"/>
                </a:solidFill>
                <a:latin typeface="Kaiti SC" panose="02010600040101010101" charset="-122"/>
                <a:ea typeface="Kaiti SC" panose="02010600040101010101" charset="-122"/>
                <a:cs typeface="Kaiti SC" panose="02010600040101010101" charset="-122"/>
                <a:sym typeface="Kaiti SC" panose="02010600040101010101" charset="-122"/>
              </a:rPr>
              <a:t>挑战杯</a:t>
            </a:r>
            <a:endParaRPr lang="zh-CN" altLang="en-US" sz="4400" b="1" i="0" u="none" strike="noStrike" dirty="0">
              <a:solidFill>
                <a:srgbClr val="000000"/>
              </a:solidFill>
              <a:latin typeface="Kaiti SC" panose="02010600040101010101" charset="-122"/>
              <a:ea typeface="Kaiti SC" panose="02010600040101010101" charset="-122"/>
              <a:cs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2387600" y="4850130"/>
            <a:ext cx="7416800" cy="108204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Kaiti SC" panose="02010600040101010101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  <a:sym typeface="Times New Roman" panose="02020503050405090304"/>
              </a:rPr>
              <a:t>李瀚伦</a:t>
            </a:r>
            <a:endParaRPr lang="en-US" dirty="0">
              <a:solidFill>
                <a:srgbClr val="000000"/>
              </a:solidFill>
              <a:latin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indent="0" algn="ctr">
              <a:lnSpc>
                <a:spcPct val="10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Times New Roman" panose="02020503050405090304"/>
              <a:cs typeface="Times New Roman" panose="02020503050405090304"/>
              <a:sym typeface="Kaiti SC" panose="0201060004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161986" y="662152"/>
            <a:ext cx="18473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 l="23" t="20142" r="2727" b="42354"/>
          <a:stretch>
            <a:fillRect/>
          </a:stretch>
        </p:blipFill>
        <p:spPr>
          <a:xfrm>
            <a:off x="0" y="0"/>
            <a:ext cx="12186714" cy="294426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71500" y="282530"/>
            <a:ext cx="609738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368CFF"/>
                </a:solidFill>
                <a:latin typeface="Kaiti SC" panose="02010600040101010101" charset="-122"/>
                <a:sym typeface="Kaiti SC" panose="02010600040101010101" charset="-122"/>
              </a:rPr>
              <a:t>基本</a:t>
            </a:r>
            <a:r>
              <a:rPr lang="zh-CN" altLang="en-US" sz="4000" dirty="0">
                <a:solidFill>
                  <a:srgbClr val="368CFF"/>
                </a:solidFill>
                <a:latin typeface="Kaiti SC" panose="02010600040101010101" charset="-122"/>
                <a:sym typeface="Kaiti SC" panose="02010600040101010101" charset="-122"/>
              </a:rPr>
              <a:t>情况</a:t>
            </a:r>
            <a:endParaRPr lang="zh-CN" altLang="en-US" sz="4000" dirty="0">
              <a:solidFill>
                <a:srgbClr val="368CFF"/>
              </a:solidFill>
              <a:latin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0" y="1215390"/>
            <a:ext cx="10708640" cy="37249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具体要求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岗位选择范围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：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信息技术领域（围绕人工智能、大数据、智能系统、物联网等）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新岗位发现与定义。识别市场上正在萌芽但尚未被标准化或逐渐兴起的新岗位，并生成岗位定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义，生成的岗位定义需包含：岗位名称、核心职责、必备技能、加分技能、典型行业应用场景，支持人工优化与动态更新；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既有岗位能力动态更新。针对现有岗位（如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开发工程师），识别其能力要求的变化，并提供更新说明及数据源，明确标注岗位新增、删除、修改的能力项，支持人工优化与动态更新演化，贴合企业实际岗位需求；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新一代信息技术岗位全景图谱。展示领域内岗位的能力要求，颗粒度到“技能点”级别，可以按技术栈和级别切换视图；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人岗匹配度诊断与差距分析。用户输入现有的技能数据，系统对比目标岗位图谱，输出差距分析，支持解析简历（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PDF/Word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等格式），提取简历技能要素，提取准确率≥90%，支持多维度匹配分析，同时提供针对性改进建议与岗位学习路径规划等。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探索多源异构数据清洗与交叉验证融合机制，解决数据的“时滞”与“噪音”问题，如招聘岗位说明书（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Job Description，JD）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往往带有滞后性，存在严重的“抄袭”和“通胀”现象。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能力“幻觉”防控，提升能力图谱构建科学性。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可验证性要求：提供完整测试方案（含至少100条岗位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JD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及测试用例），核心指标可量化验证，其中 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JD </a:t>
            </a:r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解析准确率≥90%、简历提取准确率≥90%、匹配准确率≥90%。</a:t>
            </a:r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CN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10600" y="4610735"/>
            <a:ext cx="2998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739900" y="4816475"/>
            <a:ext cx="375983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分工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后端，管仓库与</a:t>
            </a:r>
            <a:r>
              <a:rPr lang="en-US" altLang="zh-CN"/>
              <a:t>docker</a:t>
            </a:r>
            <a:r>
              <a:rPr lang="zh-CN" altLang="en-US"/>
              <a:t>两人</a:t>
            </a:r>
            <a:r>
              <a:rPr lang="en-US" altLang="zh-CN"/>
              <a:t>：</a:t>
            </a:r>
            <a:r>
              <a:rPr lang="zh-CN" altLang="en-US"/>
              <a:t>陈为，永喆</a:t>
            </a:r>
            <a:endParaRPr lang="en-US" altLang="zh-CN"/>
          </a:p>
          <a:p>
            <a:r>
              <a:rPr lang="zh-CN" altLang="en-US"/>
              <a:t>前端</a:t>
            </a:r>
            <a:r>
              <a:rPr lang="zh-CN" altLang="en-US"/>
              <a:t>一人——杨宇慧</a:t>
            </a:r>
            <a:endParaRPr lang="zh-CN" altLang="en-US"/>
          </a:p>
          <a:p>
            <a:r>
              <a:rPr lang="zh-CN" altLang="en-US"/>
              <a:t>数据</a:t>
            </a:r>
            <a:r>
              <a:rPr lang="zh-CN" altLang="en-US"/>
              <a:t>一人——洪宁</a:t>
            </a:r>
            <a:endParaRPr lang="en-US" altLang="zh-CN"/>
          </a:p>
          <a:p>
            <a:r>
              <a:rPr lang="zh-CN" altLang="en-US"/>
              <a:t>构建图谱数据库</a:t>
            </a:r>
            <a:r>
              <a:rPr lang="zh-CN" altLang="en-US"/>
              <a:t>两人——罗翔，李瀚伦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13650" y="4816475"/>
            <a:ext cx="291338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</a:t>
            </a:r>
            <a:r>
              <a:rPr lang="zh-CN" altLang="en-US"/>
              <a:t>要求</a:t>
            </a:r>
            <a:endParaRPr lang="zh-CN" altLang="en-US"/>
          </a:p>
          <a:p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5</a:t>
            </a:r>
            <a:r>
              <a:rPr lang="zh-CN" altLang="en-US"/>
              <a:t>日各参赛团队要向发榜单位完成作品提交</a:t>
            </a:r>
            <a:endParaRPr lang="zh-CN" altLang="en-US"/>
          </a:p>
          <a:p>
            <a:r>
              <a:rPr lang="zh-CN" altLang="en-US"/>
              <a:t>11 月，组织终审擂台赛，角逐“擂主”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71500" y="282530"/>
            <a:ext cx="609738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368CFF"/>
                </a:solidFill>
                <a:latin typeface="Kaiti SC" panose="02010600040101010101" charset="-122"/>
                <a:sym typeface="Kaiti SC" panose="02010600040101010101" charset="-122"/>
              </a:rPr>
              <a:t>大致</a:t>
            </a:r>
            <a:r>
              <a:rPr lang="zh-CN" altLang="en-US" sz="4000" dirty="0">
                <a:solidFill>
                  <a:srgbClr val="368CFF"/>
                </a:solidFill>
                <a:latin typeface="Kaiti SC" panose="02010600040101010101" charset="-122"/>
                <a:sym typeface="Kaiti SC" panose="02010600040101010101" charset="-122"/>
              </a:rPr>
              <a:t>流程</a:t>
            </a:r>
            <a:endParaRPr lang="zh-CN" altLang="en-US" sz="4000" dirty="0">
              <a:solidFill>
                <a:srgbClr val="368CFF"/>
              </a:solidFill>
              <a:latin typeface="Kaiti SC" panose="02010600040101010101" charset="-122"/>
              <a:sym typeface="Kaiti SC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499" y="1215273"/>
            <a:ext cx="10708871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br>
              <a:rPr lang="zh-CN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CN" alt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01725"/>
            <a:ext cx="7305040" cy="44735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10600" y="1594485"/>
            <a:ext cx="257556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关于数据处理与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数据的清洗与</a:t>
            </a:r>
            <a:r>
              <a:rPr lang="zh-CN" altLang="en-US"/>
              <a:t>验证</a:t>
            </a:r>
            <a:endParaRPr lang="zh-CN" altLang="en-US"/>
          </a:p>
          <a:p>
            <a:r>
              <a:rPr lang="zh-CN" altLang="en-US"/>
              <a:t>辨别时滞</a:t>
            </a:r>
            <a:r>
              <a:rPr lang="en-US" altLang="zh-CN"/>
              <a:t>，</a:t>
            </a:r>
            <a:r>
              <a:rPr lang="zh-CN" altLang="en-US"/>
              <a:t>噪音</a:t>
            </a:r>
            <a:r>
              <a:rPr lang="en-US" altLang="zh-CN"/>
              <a:t>，</a:t>
            </a:r>
            <a:r>
              <a:rPr lang="zh-CN" altLang="en-US"/>
              <a:t>抄袭</a:t>
            </a:r>
            <a:r>
              <a:rPr lang="en-US" altLang="zh-CN"/>
              <a:t>，</a:t>
            </a:r>
            <a:r>
              <a:rPr lang="zh-CN" altLang="en-US"/>
              <a:t>通胀并</a:t>
            </a:r>
            <a:r>
              <a:rPr lang="zh-CN" altLang="en-US"/>
              <a:t>去除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新旧岗位的</a:t>
            </a:r>
            <a:r>
              <a:rPr lang="zh-CN" altLang="en-US"/>
              <a:t>辨别</a:t>
            </a:r>
            <a:endParaRPr lang="zh-CN" altLang="en-US"/>
          </a:p>
          <a:p>
            <a:r>
              <a:rPr lang="zh-CN" altLang="en-US"/>
              <a:t>分析是新岗位的出现还是旧岗位的变更</a:t>
            </a:r>
            <a:endParaRPr lang="zh-CN" altLang="en-US"/>
          </a:p>
          <a:p>
            <a:r>
              <a:rPr lang="zh-CN" altLang="en-US"/>
              <a:t>若是新岗位的出现</a:t>
            </a:r>
            <a:r>
              <a:rPr lang="en-US" altLang="zh-CN"/>
              <a:t>，</a:t>
            </a:r>
            <a:r>
              <a:rPr lang="zh-CN" altLang="en-US"/>
              <a:t>则需对新岗位进行定义，若是旧岗位的更新则进行修改</a:t>
            </a:r>
            <a:r>
              <a:rPr lang="en-US" altLang="zh-CN"/>
              <a:t>，</a:t>
            </a:r>
            <a:r>
              <a:rPr lang="zh-CN" altLang="en-US"/>
              <a:t>标注修改内容与</a:t>
            </a:r>
            <a:r>
              <a:rPr lang="zh-CN" altLang="en-US"/>
              <a:t>数据源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10600" y="4610735"/>
            <a:ext cx="299847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关于知识</a:t>
            </a:r>
            <a:r>
              <a:rPr lang="zh-CN" altLang="en-US"/>
              <a:t>图谱</a:t>
            </a:r>
            <a:endParaRPr lang="zh-CN" altLang="en-US"/>
          </a:p>
          <a:p>
            <a:r>
              <a:rPr lang="zh-CN" altLang="en-US"/>
              <a:t>要求</a:t>
            </a:r>
            <a:r>
              <a:rPr lang="en-US" altLang="zh-CN"/>
              <a:t>：</a:t>
            </a:r>
            <a:r>
              <a:rPr lang="zh-CN" altLang="en-US"/>
              <a:t>展示领域内岗位的能力要求，颗粒度到“技能点”级别，可以按技术栈和</a:t>
            </a:r>
            <a:r>
              <a:rPr lang="zh-CN" altLang="en-US">
                <a:highlight>
                  <a:srgbClr val="FFFF00"/>
                </a:highlight>
              </a:rPr>
              <a:t>级别</a:t>
            </a:r>
            <a:r>
              <a:rPr lang="zh-CN" altLang="en-US"/>
              <a:t>切换视图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级别</a:t>
            </a:r>
            <a:r>
              <a:rPr lang="en-US" altLang="zh-CN"/>
              <a:t>？？？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125" y="4610735"/>
            <a:ext cx="2694305" cy="2246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d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WPS 表格</Application>
  <PresentationFormat>宽屏</PresentationFormat>
  <Paragraphs>55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6" baseType="lpstr">
      <vt:lpstr>Arial</vt:lpstr>
      <vt:lpstr>宋体</vt:lpstr>
      <vt:lpstr>Wingdings</vt:lpstr>
      <vt:lpstr>Arial</vt:lpstr>
      <vt:lpstr>Kaiti SC</vt:lpstr>
      <vt:lpstr>Noto Sans SC</vt:lpstr>
      <vt:lpstr>Thonburi</vt:lpstr>
      <vt:lpstr>Garamond</vt:lpstr>
      <vt:lpstr>Wingdings</vt:lpstr>
      <vt:lpstr>Times New Roman</vt:lpstr>
      <vt:lpstr>Verdana</vt:lpstr>
      <vt:lpstr>Consolas</vt:lpstr>
      <vt:lpstr>苹方-简</vt:lpstr>
      <vt:lpstr>微软雅黑</vt:lpstr>
      <vt:lpstr>汉仪旗黑</vt:lpstr>
      <vt:lpstr>宋体</vt:lpstr>
      <vt:lpstr>Arial Unicode MS</vt:lpstr>
      <vt:lpstr>汉仪书宋二KW</vt:lpstr>
      <vt:lpstr>Times New Roman</vt:lpstr>
      <vt:lpstr>Verdana</vt:lpstr>
      <vt:lpstr>Wingdings</vt:lpstr>
      <vt:lpstr>Office 主题​​</vt:lpstr>
      <vt:lpstr>Edge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李瀚伦</cp:lastModifiedBy>
  <cp:revision>36</cp:revision>
  <dcterms:created xsi:type="dcterms:W3CDTF">2026-07-24T05:30:52Z</dcterms:created>
  <dcterms:modified xsi:type="dcterms:W3CDTF">2026-07-24T05:30:52Z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098E9C54250B3CF88CF8626AA6E1646A_42</vt:lpwstr>
  </property>
</Properties>
</file>